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Expedido</c:v>
                </c:pt>
              </c:strCache>
            </c:strRef>
          </c:tx>
          <c:spPr>
            <a:solidFill>
              <a:srgbClr val="297AD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Mar</c:v>
                  </c:pt>
                  <c:pt idx="1">
                    <c:v>Abr</c:v>
                  </c:pt>
                  <c:pt idx="2">
                    <c:v>Mai</c:v>
                  </c:pt>
                  <c:pt idx="3">
                    <c:v>Jun</c:v>
                  </c:pt>
                  <c:pt idx="4">
                    <c:v>Jul</c:v>
                  </c:pt>
                  <c:pt idx="5">
                    <c:v>Ago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182000</c:v>
                </c:pt>
                <c:pt idx="1">
                  <c:v>196500</c:v>
                </c:pt>
                <c:pt idx="2">
                  <c:v>204300</c:v>
                </c:pt>
                <c:pt idx="3">
                  <c:v>188700</c:v>
                </c:pt>
                <c:pt idx="4">
                  <c:v>221400</c:v>
                </c:pt>
                <c:pt idx="5">
                  <c:v>236900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Forecast</c:v>
                </c:pt>
              </c:strCache>
            </c:strRef>
          </c:tx>
          <c:spPr>
            <a:solidFill>
              <a:srgbClr val="93A5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Mar</c:v>
                  </c:pt>
                  <c:pt idx="1">
                    <c:v>Abr</c:v>
                  </c:pt>
                  <c:pt idx="2">
                    <c:v>Mai</c:v>
                  </c:pt>
                  <c:pt idx="3">
                    <c:v>Jun</c:v>
                  </c:pt>
                  <c:pt idx="4">
                    <c:v>Jul</c:v>
                  </c:pt>
                  <c:pt idx="5">
                    <c:v>Ago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190000</c:v>
                </c:pt>
                <c:pt idx="1">
                  <c:v>195000</c:v>
                </c:pt>
                <c:pt idx="2">
                  <c:v>200000</c:v>
                </c:pt>
                <c:pt idx="3">
                  <c:v>205000</c:v>
                </c:pt>
                <c:pt idx="4">
                  <c:v>215000</c:v>
                </c:pt>
                <c:pt idx="5">
                  <c:v>230000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3A5B8"/>
                </a:solidFill>
                <a:latin typeface="Segoe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44576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3A5B8"/>
                </a:solidFill>
                <a:latin typeface="Segoe U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42032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93A5B8"/>
              </a:solidFill>
              <a:latin typeface="Segoe UI"/>
              <a:cs typeface="Segoe UI"/>
            </a:defRPr>
          </a:pPr>
          <a:endParaRPr lang="en-US"/>
        </a:p>
      </c:txPr>
    </c:legend>
    <c:plotVisOnly val="1"/>
    <c:dispBlanksAs val="span"/>
  </c:chart>
  <c:spPr>
    <a:solidFill>
      <a:srgbClr val="142032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CAPA. Troque o kicker (contexto/report), o título e o subtítulo. Fundo #031F44, marca minimalista (o V) no topo esquerdo. Não mover a régua dourada.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DE SEÇÃO. Duplique este slide para cada seção e ajuste o número no kicker.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KPI. Um número hero à esquerda, até quatro tiles à direita, faixa de leitura embaixo. Verde só para positivo, vermelho só para negativo.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CARDS DE MARCA. Cor da marca identifica marca e mais nada — não usar como paleta categórica genérica.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GRÁFICO. Gráfico nativo do PowerPoint (editável), leitura em texto ao lado. Cor: azul institucional para a série principal, cinza de apoio para o comparativo.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TABELA. Cabeçalho em #1B2A3D, números alinhados à direita, situação colorida pela semântica (verde/âmbar/vermelho), total destacado.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REFERÊNCIA. Slide de consulta — apagar antes de apresentar. Cores no pptxgenjs sempre sem # e com 6 dígitos.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INSTRUÇÕES. Slide de apoio ao time — também pode ser apagado antes de apresentar.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31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777240"/>
            <a:ext cx="1051560" cy="10515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2331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80" kern="0" dirty="0">
                <a:solidFill>
                  <a:srgbClr val="F6BD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 E-COMMERCE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2697480"/>
            <a:ext cx="9509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Título da Apresentação</a:t>
            </a:r>
            <a:endParaRPr lang="en-US" sz="4600" dirty="0"/>
          </a:p>
        </p:txBody>
      </p:sp>
      <p:sp>
        <p:nvSpPr>
          <p:cNvPr id="5" name="Shape 2"/>
          <p:cNvSpPr/>
          <p:nvPr/>
        </p:nvSpPr>
        <p:spPr>
          <a:xfrm>
            <a:off x="640080" y="3822192"/>
            <a:ext cx="1005840" cy="29261"/>
          </a:xfrm>
          <a:prstGeom prst="rect">
            <a:avLst/>
          </a:prstGeom>
          <a:solidFill>
            <a:srgbClr val="F6BD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404164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3A5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Subtítulo com o recorte do período · Área responsável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6035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5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Extrema/MG ·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31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0816" y="365760"/>
            <a:ext cx="420624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2651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80" kern="0" dirty="0">
                <a:solidFill>
                  <a:srgbClr val="F6BD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SEÇÃO 01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2999232"/>
            <a:ext cx="9509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Nome da Seção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640080" y="3950208"/>
            <a:ext cx="1005840" cy="29261"/>
          </a:xfrm>
          <a:prstGeom prst="rect">
            <a:avLst/>
          </a:prstGeom>
          <a:solidFill>
            <a:srgbClr val="F6BD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416052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3A5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Uma linha dizendo o que esta seção responde.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20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F6BD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RESULTADO CONSOLIDADO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21792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Números do período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261872"/>
            <a:ext cx="777240" cy="25603"/>
          </a:xfrm>
          <a:prstGeom prst="rect">
            <a:avLst/>
          </a:prstGeom>
          <a:solidFill>
            <a:srgbClr val="F6BD00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0816" y="365760"/>
            <a:ext cx="420624" cy="42062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691640"/>
            <a:ext cx="4754880" cy="2011680"/>
          </a:xfrm>
          <a:prstGeom prst="roundRect">
            <a:avLst>
              <a:gd name="adj" fmla="val 2727"/>
            </a:avLst>
          </a:prstGeom>
          <a:solidFill>
            <a:srgbClr val="2C3E52"/>
          </a:solidFill>
          <a:ln w="12700">
            <a:solidFill>
              <a:srgbClr val="44576C"/>
            </a:solidFill>
            <a:prstDash val="solid"/>
          </a:ln>
          <a:effectLst>
            <a:outerShdw sx="100000" sy="100000" kx="0" ky="0" algn="bl" rotWithShape="0" blurRad="38100" dist="254" dir="5400000">
              <a:srgbClr val="000000">
                <a:alpha val="30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960120" y="193852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3A5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VALOR DE ESTOQUE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932688" y="224028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FFFFFF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R$ 127,2 mi</a:t>
            </a:r>
            <a:endParaRPr lang="en-US" sz="4800" dirty="0"/>
          </a:p>
        </p:txBody>
      </p:sp>
      <p:sp>
        <p:nvSpPr>
          <p:cNvPr id="9" name="Text 6"/>
          <p:cNvSpPr txBox="1"/>
          <p:nvPr/>
        </p:nvSpPr>
        <p:spPr>
          <a:xfrm>
            <a:off x="960120" y="314553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5C6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▲ 4,1% vs. extração anterior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669280" y="1691640"/>
            <a:ext cx="2926080" cy="932688"/>
          </a:xfrm>
          <a:prstGeom prst="roundRect">
            <a:avLst>
              <a:gd name="adj" fmla="val 5882"/>
            </a:avLst>
          </a:prstGeom>
          <a:solidFill>
            <a:srgbClr val="2C3E52"/>
          </a:solidFill>
          <a:ln w="12700">
            <a:solidFill>
              <a:srgbClr val="44576C"/>
            </a:solidFill>
            <a:prstDash val="solid"/>
          </a:ln>
          <a:effectLst>
            <a:outerShdw sx="100000" sy="100000" kx="0" ky="0" algn="bl" rotWithShape="0" blurRad="38100" dist="254" dir="5400000">
              <a:srgbClr val="000000">
                <a:alpha val="30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5870448" y="181965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3A5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DISPONÍVEL P/ VENDA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5852160" y="202082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94,7%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5870448" y="237744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5C6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R$ 120,5 mi livres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8851392" y="1691640"/>
            <a:ext cx="2926080" cy="932688"/>
          </a:xfrm>
          <a:prstGeom prst="roundRect">
            <a:avLst>
              <a:gd name="adj" fmla="val 5882"/>
            </a:avLst>
          </a:prstGeom>
          <a:solidFill>
            <a:srgbClr val="2C3E52"/>
          </a:solidFill>
          <a:ln w="12700">
            <a:solidFill>
              <a:srgbClr val="44576C"/>
            </a:solidFill>
            <a:prstDash val="solid"/>
          </a:ln>
          <a:effectLst>
            <a:outerShdw sx="100000" sy="100000" kx="0" ky="0" algn="bl" rotWithShape="0" blurRad="38100" dist="254" dir="5400000">
              <a:srgbClr val="000000">
                <a:alpha val="30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9052560" y="181965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3A5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BLOQUEADO / ANÁLISE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9034272" y="202082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5,3%</a:t>
            </a:r>
            <a:endParaRPr lang="en-US" sz="2400" dirty="0"/>
          </a:p>
        </p:txBody>
      </p:sp>
      <p:sp>
        <p:nvSpPr>
          <p:cNvPr id="17" name="Text 14"/>
          <p:cNvSpPr txBox="1"/>
          <p:nvPr/>
        </p:nvSpPr>
        <p:spPr>
          <a:xfrm>
            <a:off x="9052560" y="237744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1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R$ 6,7 mi travados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669280" y="2770632"/>
            <a:ext cx="2926080" cy="932688"/>
          </a:xfrm>
          <a:prstGeom prst="roundRect">
            <a:avLst>
              <a:gd name="adj" fmla="val 5882"/>
            </a:avLst>
          </a:prstGeom>
          <a:solidFill>
            <a:srgbClr val="2C3E52"/>
          </a:solidFill>
          <a:ln w="12700">
            <a:solidFill>
              <a:srgbClr val="44576C"/>
            </a:solidFill>
            <a:prstDash val="solid"/>
          </a:ln>
          <a:effectLst>
            <a:outerShdw sx="100000" sy="100000" kx="0" ky="0" algn="bl" rotWithShape="0" blurRad="38100" dist="254" dir="5400000">
              <a:srgbClr val="000000">
                <a:alpha val="30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5870448" y="28986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3A5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SKUs COM ESTOQUE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5852160" y="309981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3.009</a:t>
            </a:r>
            <a:endParaRPr lang="en-US" sz="2400" dirty="0"/>
          </a:p>
        </p:txBody>
      </p:sp>
      <p:sp>
        <p:nvSpPr>
          <p:cNvPr id="21" name="Text 18"/>
          <p:cNvSpPr txBox="1"/>
          <p:nvPr/>
        </p:nvSpPr>
        <p:spPr>
          <a:xfrm>
            <a:off x="5870448" y="345643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5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 famílias ativas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8851392" y="2770632"/>
            <a:ext cx="2926080" cy="932688"/>
          </a:xfrm>
          <a:prstGeom prst="roundRect">
            <a:avLst>
              <a:gd name="adj" fmla="val 5882"/>
            </a:avLst>
          </a:prstGeom>
          <a:solidFill>
            <a:srgbClr val="2C3E52"/>
          </a:solidFill>
          <a:ln w="12700">
            <a:solidFill>
              <a:srgbClr val="44576C"/>
            </a:solidFill>
            <a:prstDash val="solid"/>
          </a:ln>
          <a:effectLst>
            <a:outerShdw sx="100000" sy="100000" kx="0" ky="0" algn="bl" rotWithShape="0" blurRad="38100" dist="254" dir="5400000">
              <a:srgbClr val="000000">
                <a:alpha val="30000"/>
              </a:srgbClr>
            </a:outerShdw>
          </a:effectLst>
        </p:spPr>
      </p:sp>
      <p:sp>
        <p:nvSpPr>
          <p:cNvPr id="23" name="Text 20"/>
          <p:cNvSpPr txBox="1"/>
          <p:nvPr/>
        </p:nvSpPr>
        <p:spPr>
          <a:xfrm>
            <a:off x="9052560" y="28986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3A5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BACKLOG 3+ DIAS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9034272" y="309981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1.284</a:t>
            </a:r>
            <a:endParaRPr lang="en-US" sz="2400" dirty="0"/>
          </a:p>
        </p:txBody>
      </p:sp>
      <p:sp>
        <p:nvSpPr>
          <p:cNvPr id="25" name="Text 22"/>
          <p:cNvSpPr txBox="1"/>
          <p:nvPr/>
        </p:nvSpPr>
        <p:spPr>
          <a:xfrm>
            <a:off x="9052560" y="345643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1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▼ meta 800 pedidos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640080" y="3950208"/>
            <a:ext cx="10881360" cy="1005840"/>
          </a:xfrm>
          <a:prstGeom prst="roundRect">
            <a:avLst>
              <a:gd name="adj" fmla="val 5455"/>
            </a:avLst>
          </a:prstGeom>
          <a:solidFill>
            <a:srgbClr val="263748"/>
          </a:solidFill>
          <a:ln w="12700">
            <a:solidFill>
              <a:srgbClr val="F6BD00"/>
            </a:solidFill>
            <a:prstDash val="solid"/>
          </a:ln>
          <a:effectLst>
            <a:outerShdw sx="100000" sy="100000" kx="0" ky="0" algn="bl" rotWithShape="0" blurRad="38100" dist="254" dir="5400000">
              <a:srgbClr val="000000">
                <a:alpha val="30000"/>
              </a:srgbClr>
            </a:outerShdw>
          </a:effectLst>
        </p:spPr>
      </p:sp>
      <p:sp>
        <p:nvSpPr>
          <p:cNvPr id="27" name="Text 24"/>
          <p:cNvSpPr txBox="1"/>
          <p:nvPr/>
        </p:nvSpPr>
        <p:spPr>
          <a:xfrm>
            <a:off x="932688" y="41148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F6BD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LEITURA</a:t>
            </a:r>
            <a:endParaRPr lang="en-US" sz="950" dirty="0"/>
          </a:p>
        </p:txBody>
      </p:sp>
      <p:sp>
        <p:nvSpPr>
          <p:cNvPr id="28" name="Text 25"/>
          <p:cNvSpPr txBox="1"/>
          <p:nvPr/>
        </p:nvSpPr>
        <p:spPr>
          <a:xfrm>
            <a:off x="932688" y="4352544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Escreva aqui o insight — o que o número significa e qual decisão ele pede. Slide sem insight é slide de anexo.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640080" y="6327648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5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Fonte: extração EX000796 · 25/08/2026 17:00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20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F6BD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DESEMPENHO POR MARCA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21792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Participação no estoque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261872"/>
            <a:ext cx="777240" cy="25603"/>
          </a:xfrm>
          <a:prstGeom prst="rect">
            <a:avLst/>
          </a:prstGeom>
          <a:solidFill>
            <a:srgbClr val="F6BD00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0816" y="365760"/>
            <a:ext cx="420624" cy="42062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783080"/>
            <a:ext cx="3456432" cy="3200400"/>
          </a:xfrm>
          <a:prstGeom prst="roundRect">
            <a:avLst>
              <a:gd name="adj" fmla="val 1429"/>
            </a:avLst>
          </a:prstGeom>
          <a:solidFill>
            <a:srgbClr val="2C3E52"/>
          </a:solidFill>
          <a:ln w="12700">
            <a:solidFill>
              <a:srgbClr val="DFBD41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1783080"/>
            <a:ext cx="3456432" cy="475488"/>
          </a:xfrm>
          <a:prstGeom prst="rect">
            <a:avLst/>
          </a:prstGeom>
          <a:solidFill>
            <a:srgbClr val="DFBD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1865376"/>
            <a:ext cx="3456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60" kern="0" dirty="0">
                <a:solidFill>
                  <a:srgbClr val="1420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MIZUNO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82496" y="2560320"/>
            <a:ext cx="1371600" cy="4572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68680" y="3246120"/>
            <a:ext cx="2999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R$ 68,9 mi</a:t>
            </a:r>
            <a:endParaRPr lang="en-US" sz="2800" dirty="0"/>
          </a:p>
        </p:txBody>
      </p:sp>
      <p:sp>
        <p:nvSpPr>
          <p:cNvPr id="11" name="Text 7"/>
          <p:cNvSpPr txBox="1"/>
          <p:nvPr/>
        </p:nvSpPr>
        <p:spPr>
          <a:xfrm>
            <a:off x="868680" y="3776472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5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54,1% do estoque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868680" y="4178808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5C6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▲ 2,4 p.p.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4352544" y="1783080"/>
            <a:ext cx="3456432" cy="3200400"/>
          </a:xfrm>
          <a:prstGeom prst="roundRect">
            <a:avLst>
              <a:gd name="adj" fmla="val 1429"/>
            </a:avLst>
          </a:prstGeom>
          <a:solidFill>
            <a:srgbClr val="2C3E52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352544" y="1783080"/>
            <a:ext cx="3456432" cy="475488"/>
          </a:xfrm>
          <a:prstGeom prst="rect">
            <a:avLst/>
          </a:prstGeom>
          <a:solidFill>
            <a:srgbClr val="C81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4352544" y="1865376"/>
            <a:ext cx="3456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6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UNDER ARMOUR</a:t>
            </a:r>
            <a:endParaRPr lang="en-US" sz="13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394960" y="2560320"/>
            <a:ext cx="1371600" cy="4572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581144" y="3246120"/>
            <a:ext cx="2999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R$ 32,3 mi</a:t>
            </a:r>
            <a:endParaRPr lang="en-US" sz="2800" dirty="0"/>
          </a:p>
        </p:txBody>
      </p:sp>
      <p:sp>
        <p:nvSpPr>
          <p:cNvPr id="18" name="Text 13"/>
          <p:cNvSpPr txBox="1"/>
          <p:nvPr/>
        </p:nvSpPr>
        <p:spPr>
          <a:xfrm>
            <a:off x="4581144" y="3776472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5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25,4% do estoque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4581144" y="4178808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▼ 1,1 p.p.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8065008" y="1783080"/>
            <a:ext cx="3456432" cy="3200400"/>
          </a:xfrm>
          <a:prstGeom prst="roundRect">
            <a:avLst>
              <a:gd name="adj" fmla="val 1429"/>
            </a:avLst>
          </a:prstGeom>
          <a:solidFill>
            <a:srgbClr val="2C3E52"/>
          </a:solidFill>
          <a:ln w="12700">
            <a:solidFill>
              <a:srgbClr val="297ADF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8065008" y="1783080"/>
            <a:ext cx="3456432" cy="475488"/>
          </a:xfrm>
          <a:prstGeom prst="rect">
            <a:avLst/>
          </a:prstGeom>
          <a:solidFill>
            <a:srgbClr val="297AD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8065008" y="1865376"/>
            <a:ext cx="3456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6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OLYMPIKUS</a:t>
            </a:r>
            <a:endParaRPr lang="en-US" sz="130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107424" y="2560320"/>
            <a:ext cx="1371600" cy="45720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8293608" y="3246120"/>
            <a:ext cx="2999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R$ 26,1 mi</a:t>
            </a:r>
            <a:endParaRPr lang="en-US" sz="2800" dirty="0"/>
          </a:p>
        </p:txBody>
      </p:sp>
      <p:sp>
        <p:nvSpPr>
          <p:cNvPr id="25" name="Text 19"/>
          <p:cNvSpPr txBox="1"/>
          <p:nvPr/>
        </p:nvSpPr>
        <p:spPr>
          <a:xfrm>
            <a:off x="8293608" y="3776472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5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20,5% do estoque</a:t>
            </a:r>
            <a:endParaRPr lang="en-US" sz="1200" dirty="0"/>
          </a:p>
        </p:txBody>
      </p:sp>
      <p:sp>
        <p:nvSpPr>
          <p:cNvPr id="26" name="Text 20"/>
          <p:cNvSpPr txBox="1"/>
          <p:nvPr/>
        </p:nvSpPr>
        <p:spPr>
          <a:xfrm>
            <a:off x="8293608" y="4178808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5C6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▲ 0,3 p.p.</a:t>
            </a:r>
            <a:endParaRPr lang="en-US" sz="1300" dirty="0"/>
          </a:p>
        </p:txBody>
      </p:sp>
      <p:sp>
        <p:nvSpPr>
          <p:cNvPr id="27" name="Text 21"/>
          <p:cNvSpPr txBox="1"/>
          <p:nvPr/>
        </p:nvSpPr>
        <p:spPr>
          <a:xfrm>
            <a:off x="640080" y="6327648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5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Cards de marca: header sólido na cor da marca, corpo neutro, borda fina na mesma cor.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20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F6BD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EVOLUÇÃO MENSAL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21792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Expedição × Forecast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261872"/>
            <a:ext cx="777240" cy="25603"/>
          </a:xfrm>
          <a:prstGeom prst="rect">
            <a:avLst/>
          </a:prstGeom>
          <a:solidFill>
            <a:srgbClr val="F6BD00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0816" y="365760"/>
            <a:ext cx="420624" cy="420624"/>
          </a:xfrm>
          <a:prstGeom prst="rect">
            <a:avLst/>
          </a:prstGeom>
        </p:spPr>
      </p:pic>
      <p:graphicFrame>
        <p:nvGraphicFramePr>
          <p:cNvPr id="6" name="Chart 0" descr=""/>
          <p:cNvGraphicFramePr/>
          <p:nvPr/>
        </p:nvGraphicFramePr>
        <p:xfrm>
          <a:off x="640080" y="1691640"/>
          <a:ext cx="694944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7909560" y="1691640"/>
            <a:ext cx="3611880" cy="4114800"/>
          </a:xfrm>
          <a:prstGeom prst="roundRect">
            <a:avLst>
              <a:gd name="adj" fmla="val 1519"/>
            </a:avLst>
          </a:prstGeom>
          <a:solidFill>
            <a:srgbClr val="263748"/>
          </a:solidFill>
          <a:ln w="12700">
            <a:solidFill>
              <a:srgbClr val="44576C"/>
            </a:solidFill>
            <a:prstDash val="solid"/>
          </a:ln>
          <a:effectLst>
            <a:outerShdw sx="100000" sy="100000" kx="0" ky="0" algn="bl" rotWithShape="0" blurRad="38100" dist="254" dir="5400000">
              <a:srgbClr val="000000">
                <a:alpha val="30000"/>
              </a:srgbClr>
            </a:outerShdw>
          </a:effectLst>
        </p:spPr>
      </p:sp>
      <p:sp>
        <p:nvSpPr>
          <p:cNvPr id="8" name="Text 4"/>
          <p:cNvSpPr txBox="1"/>
          <p:nvPr/>
        </p:nvSpPr>
        <p:spPr>
          <a:xfrm>
            <a:off x="8156448" y="192024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F6BD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QUE O GRÁFICO DIZ</a:t>
            </a:r>
            <a:endParaRPr lang="en-US" sz="950" dirty="0"/>
          </a:p>
        </p:txBody>
      </p:sp>
      <p:sp>
        <p:nvSpPr>
          <p:cNvPr id="9" name="Text 5"/>
          <p:cNvSpPr txBox="1"/>
          <p:nvPr/>
        </p:nvSpPr>
        <p:spPr>
          <a:xfrm>
            <a:off x="8156448" y="2240280"/>
            <a:ext cx="31272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Agosto fechou 3% acima do forecast, o melhor mês do período.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Junho é a única queda — coincide com a parada de inventário.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tendência sustenta a meta de 240 mil para setembro.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640080" y="6327648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5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Fonte: dashboard Report E-commerce · seção Outbound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20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F6BD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DETALHAMENTO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21792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Estoque por armazém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261872"/>
            <a:ext cx="777240" cy="25603"/>
          </a:xfrm>
          <a:prstGeom prst="rect">
            <a:avLst/>
          </a:prstGeom>
          <a:solidFill>
            <a:srgbClr val="F6BD00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0816" y="365760"/>
            <a:ext cx="420624" cy="420624"/>
          </a:xfrm>
          <a:prstGeom prst="rect">
            <a:avLst/>
          </a:prstGeom>
        </p:spPr>
      </p:pic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88136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011680"/>
                <a:gridCol w="2194560"/>
                <a:gridCol w="3108960"/>
                <a:gridCol w="146304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spc="100" kern="0" dirty="0">
                          <a:solidFill>
                            <a:srgbClr val="93A5B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Armazém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445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5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5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5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spc="100" kern="0" dirty="0">
                          <a:solidFill>
                            <a:srgbClr val="93A5B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Situação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445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5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5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5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spc="100" kern="0" dirty="0">
                          <a:solidFill>
                            <a:srgbClr val="93A5B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Quantidade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445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5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5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5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spc="100" kern="0" dirty="0">
                          <a:solidFill>
                            <a:srgbClr val="93A5B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Valor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445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5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5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5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spc="100" kern="0" dirty="0">
                          <a:solidFill>
                            <a:srgbClr val="93A5B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% do total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445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5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5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5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AC190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445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5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5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5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45C64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Disponível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445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5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5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5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2.834.432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445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5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5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5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R$ 120.514.650,87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445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5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5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5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94,7%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445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5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5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5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ARMRP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445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5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5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5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C810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Bloqueado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445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5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5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5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77.662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445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5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5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5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R$ 4.997.283,39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445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5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5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5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3,9%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445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5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5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5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ARAMO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445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5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5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5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E8830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Em análise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445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5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5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5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13.957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445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5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5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5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R$ 1.369.869,23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445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5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5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5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1,1%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445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5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5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5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DEVFT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445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5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5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5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C810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Bloqueado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445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5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5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5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3.848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445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5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5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5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R$ 269.372,02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445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5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5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5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0,2%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445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5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5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5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ARMFT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445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5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5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5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E8830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Em análise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445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5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5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5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1.737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445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5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5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5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R$ 41.268,88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445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5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5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5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0,0%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445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5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5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5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TOTAL GERAL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445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5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5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5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445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5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5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5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2.931.823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445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5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5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5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R$ 127.199.303,46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445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5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5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5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100%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445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5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5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57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D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640080" y="6327648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5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Linha de total sempre destacada explicitamente — nunca só por ser a última linha.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20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F6BD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REFERÊNCIA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21792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Paleta e tipografia do template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261872"/>
            <a:ext cx="777240" cy="25603"/>
          </a:xfrm>
          <a:prstGeom prst="rect">
            <a:avLst/>
          </a:prstGeom>
          <a:solidFill>
            <a:srgbClr val="F6BD00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0816" y="365760"/>
            <a:ext cx="420624" cy="42062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783080"/>
            <a:ext cx="1700784" cy="420624"/>
          </a:xfrm>
          <a:prstGeom prst="rect">
            <a:avLst/>
          </a:prstGeom>
          <a:solidFill>
            <a:srgbClr val="1420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2258568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--bg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450592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3A5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#142032 · Fundo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2487168" y="1783080"/>
            <a:ext cx="1700784" cy="420624"/>
          </a:xfrm>
          <a:prstGeom prst="rect">
            <a:avLst/>
          </a:prstGeom>
          <a:solidFill>
            <a:srgbClr val="031F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487168" y="2258568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--bg-deep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2487168" y="2450592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3A5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#031F44 · Capa / seção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4334256" y="1783080"/>
            <a:ext cx="1700784" cy="420624"/>
          </a:xfrm>
          <a:prstGeom prst="rect">
            <a:avLst/>
          </a:prstGeom>
          <a:solidFill>
            <a:srgbClr val="2C3E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334256" y="2258568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--card-bg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4334256" y="2450592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3A5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#2C3E52 · Card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6181344" y="1783080"/>
            <a:ext cx="1700784" cy="420624"/>
          </a:xfrm>
          <a:prstGeom prst="rect">
            <a:avLst/>
          </a:prstGeom>
          <a:solidFill>
            <a:srgbClr val="4457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181344" y="2258568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--card-border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6181344" y="2450592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3A5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#44576C · Borda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8028432" y="1783080"/>
            <a:ext cx="1700784" cy="420624"/>
          </a:xfrm>
          <a:prstGeom prst="rect">
            <a:avLst/>
          </a:prstGeom>
          <a:solidFill>
            <a:srgbClr val="F6BD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028432" y="2258568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--accent-gold</a:t>
            </a:r>
            <a:endParaRPr lang="en-US" sz="950" dirty="0"/>
          </a:p>
        </p:txBody>
      </p:sp>
      <p:sp>
        <p:nvSpPr>
          <p:cNvPr id="20" name="Text 17"/>
          <p:cNvSpPr txBox="1"/>
          <p:nvPr/>
        </p:nvSpPr>
        <p:spPr>
          <a:xfrm>
            <a:off x="8028432" y="2450592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3A5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#F6BD00 · Kicker / régua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9875520" y="1783080"/>
            <a:ext cx="1700784" cy="420624"/>
          </a:xfrm>
          <a:prstGeom prst="rect">
            <a:avLst/>
          </a:prstGeom>
          <a:solidFill>
            <a:srgbClr val="45C6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875520" y="2258568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--positive</a:t>
            </a:r>
            <a:endParaRPr lang="en-US" sz="950" dirty="0"/>
          </a:p>
        </p:txBody>
      </p:sp>
      <p:sp>
        <p:nvSpPr>
          <p:cNvPr id="23" name="Text 20"/>
          <p:cNvSpPr txBox="1"/>
          <p:nvPr/>
        </p:nvSpPr>
        <p:spPr>
          <a:xfrm>
            <a:off x="9875520" y="2450592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3A5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#45C645 · Positivo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640080" y="3200400"/>
            <a:ext cx="1700784" cy="420624"/>
          </a:xfrm>
          <a:prstGeom prst="rect">
            <a:avLst/>
          </a:prstGeom>
          <a:solidFill>
            <a:srgbClr val="C81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40080" y="3675888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--negative</a:t>
            </a:r>
            <a:endParaRPr lang="en-US" sz="950" dirty="0"/>
          </a:p>
        </p:txBody>
      </p:sp>
      <p:sp>
        <p:nvSpPr>
          <p:cNvPr id="26" name="Text 23"/>
          <p:cNvSpPr txBox="1"/>
          <p:nvPr/>
        </p:nvSpPr>
        <p:spPr>
          <a:xfrm>
            <a:off x="640080" y="3867912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3A5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#C8102E · Negativo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2487168" y="3200400"/>
            <a:ext cx="1700784" cy="420624"/>
          </a:xfrm>
          <a:prstGeom prst="rect">
            <a:avLst/>
          </a:prstGeom>
          <a:solidFill>
            <a:srgbClr val="E8830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2487168" y="3675888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--laranja</a:t>
            </a:r>
            <a:endParaRPr lang="en-US" sz="950" dirty="0"/>
          </a:p>
        </p:txBody>
      </p:sp>
      <p:sp>
        <p:nvSpPr>
          <p:cNvPr id="29" name="Text 26"/>
          <p:cNvSpPr txBox="1"/>
          <p:nvPr/>
        </p:nvSpPr>
        <p:spPr>
          <a:xfrm>
            <a:off x="2487168" y="3867912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3A5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#E8830D · Atenção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4334256" y="3200400"/>
            <a:ext cx="1700784" cy="420624"/>
          </a:xfrm>
          <a:prstGeom prst="rect">
            <a:avLst/>
          </a:prstGeom>
          <a:solidFill>
            <a:srgbClr val="93A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4334256" y="3675888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--text-secondary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4334256" y="3867912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3A5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#93A5B8 · Apoio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6181344" y="3200400"/>
            <a:ext cx="1700784" cy="420624"/>
          </a:xfrm>
          <a:prstGeom prst="rect">
            <a:avLst/>
          </a:prstGeom>
          <a:solidFill>
            <a:srgbClr val="DFBD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181344" y="3675888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--brand-miz</a:t>
            </a:r>
            <a:endParaRPr lang="en-US" sz="950" dirty="0"/>
          </a:p>
        </p:txBody>
      </p:sp>
      <p:sp>
        <p:nvSpPr>
          <p:cNvPr id="35" name="Text 32"/>
          <p:cNvSpPr txBox="1"/>
          <p:nvPr/>
        </p:nvSpPr>
        <p:spPr>
          <a:xfrm>
            <a:off x="6181344" y="3867912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3A5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#DFBD41 · Mizuno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8028432" y="3200400"/>
            <a:ext cx="1700784" cy="420624"/>
          </a:xfrm>
          <a:prstGeom prst="rect">
            <a:avLst/>
          </a:prstGeom>
          <a:solidFill>
            <a:srgbClr val="297AD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8028432" y="3675888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--brand-oly</a:t>
            </a:r>
            <a:endParaRPr lang="en-US" sz="950" dirty="0"/>
          </a:p>
        </p:txBody>
      </p:sp>
      <p:sp>
        <p:nvSpPr>
          <p:cNvPr id="38" name="Text 35"/>
          <p:cNvSpPr txBox="1"/>
          <p:nvPr/>
        </p:nvSpPr>
        <p:spPr>
          <a:xfrm>
            <a:off x="8028432" y="3867912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3A5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#297ADF · Olympikus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9875520" y="3200400"/>
            <a:ext cx="1700784" cy="420624"/>
          </a:xfrm>
          <a:prstGeom prst="rect">
            <a:avLst/>
          </a:prstGeom>
          <a:solidFill>
            <a:srgbClr val="C81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9875520" y="3675888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--brand-ua</a:t>
            </a:r>
            <a:endParaRPr lang="en-US" sz="950" dirty="0"/>
          </a:p>
        </p:txBody>
      </p:sp>
      <p:sp>
        <p:nvSpPr>
          <p:cNvPr id="41" name="Text 38"/>
          <p:cNvSpPr txBox="1"/>
          <p:nvPr/>
        </p:nvSpPr>
        <p:spPr>
          <a:xfrm>
            <a:off x="9875520" y="3867912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3A5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#C8102E · Under Armour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640080" y="4617720"/>
            <a:ext cx="10881360" cy="1417320"/>
          </a:xfrm>
          <a:prstGeom prst="roundRect">
            <a:avLst>
              <a:gd name="adj" fmla="val 3871"/>
            </a:avLst>
          </a:prstGeom>
          <a:solidFill>
            <a:srgbClr val="263748"/>
          </a:solidFill>
          <a:ln w="12700">
            <a:solidFill>
              <a:srgbClr val="44576C"/>
            </a:solidFill>
            <a:prstDash val="solid"/>
          </a:ln>
          <a:effectLst>
            <a:outerShdw sx="100000" sy="100000" kx="0" ky="0" algn="bl" rotWithShape="0" blurRad="38100" dist="254" dir="5400000">
              <a:srgbClr val="000000">
                <a:alpha val="30000"/>
              </a:srgbClr>
            </a:outerShdw>
          </a:effectLst>
        </p:spPr>
      </p:sp>
      <p:sp>
        <p:nvSpPr>
          <p:cNvPr id="43" name="Text 40"/>
          <p:cNvSpPr txBox="1"/>
          <p:nvPr/>
        </p:nvSpPr>
        <p:spPr>
          <a:xfrm>
            <a:off x="932688" y="479145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F6BD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TIPOGRAFIA</a:t>
            </a:r>
            <a:endParaRPr lang="en-US" sz="950" dirty="0"/>
          </a:p>
        </p:txBody>
      </p:sp>
      <p:sp>
        <p:nvSpPr>
          <p:cNvPr id="44" name="Text 41"/>
          <p:cNvSpPr txBox="1"/>
          <p:nvPr/>
        </p:nvSpPr>
        <p:spPr>
          <a:xfrm>
            <a:off x="932688" y="50749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Segoe UI Black — títulos</a:t>
            </a:r>
            <a:endParaRPr lang="en-US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0" y="51206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Segoe UI — corpo, labels e valores de card</a:t>
            </a:r>
            <a:endParaRPr lang="en-US" sz="1300" dirty="0"/>
          </a:p>
        </p:txBody>
      </p:sp>
      <p:sp>
        <p:nvSpPr>
          <p:cNvPr id="46" name="Text 43"/>
          <p:cNvSpPr txBox="1"/>
          <p:nvPr/>
        </p:nvSpPr>
        <p:spPr>
          <a:xfrm>
            <a:off x="8503920" y="50292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Segoe UI Light — 127,2</a:t>
            </a:r>
            <a:endParaRPr lang="en-US" sz="2200" dirty="0"/>
          </a:p>
        </p:txBody>
      </p:sp>
      <p:sp>
        <p:nvSpPr>
          <p:cNvPr id="47" name="Text 44"/>
          <p:cNvSpPr txBox="1"/>
          <p:nvPr/>
        </p:nvSpPr>
        <p:spPr>
          <a:xfrm>
            <a:off x="932688" y="5596128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5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Títulos 30–46pt · seção 20–24pt · corpo 13–16pt · legenda 9–11pt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31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F6BD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INSTRUÇÕES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21792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Como usar este template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261872"/>
            <a:ext cx="777240" cy="25603"/>
          </a:xfrm>
          <a:prstGeom prst="rect">
            <a:avLst/>
          </a:prstGeom>
          <a:solidFill>
            <a:srgbClr val="F6BD00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0816" y="365760"/>
            <a:ext cx="420624" cy="42062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783080"/>
            <a:ext cx="5303520" cy="1463040"/>
          </a:xfrm>
          <a:prstGeom prst="roundRect">
            <a:avLst>
              <a:gd name="adj" fmla="val 3750"/>
            </a:avLst>
          </a:prstGeom>
          <a:solidFill>
            <a:srgbClr val="2C3E52"/>
          </a:solidFill>
          <a:ln w="12700">
            <a:solidFill>
              <a:srgbClr val="44576C"/>
            </a:solidFill>
            <a:prstDash val="solid"/>
          </a:ln>
          <a:effectLst>
            <a:outerShdw sx="100000" sy="100000" kx="0" ky="0" algn="bl" rotWithShape="0" blurRad="38100" dist="254" dir="5400000">
              <a:srgbClr val="000000">
                <a:alpha val="3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914400" y="2075688"/>
            <a:ext cx="420624" cy="420624"/>
          </a:xfrm>
          <a:prstGeom prst="ellipse">
            <a:avLst/>
          </a:prstGeom>
          <a:solidFill>
            <a:srgbClr val="F6BD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14400" y="2130552"/>
            <a:ext cx="420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31F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508760" y="205740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Duplique, não recrie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508760" y="2404872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5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Copie o slide do tipo que precisa (capa, seção, KPI, marca, gráfico, tabela) e troque só o conteúdo.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217920" y="1783080"/>
            <a:ext cx="5303520" cy="1463040"/>
          </a:xfrm>
          <a:prstGeom prst="roundRect">
            <a:avLst>
              <a:gd name="adj" fmla="val 3750"/>
            </a:avLst>
          </a:prstGeom>
          <a:solidFill>
            <a:srgbClr val="2C3E52"/>
          </a:solidFill>
          <a:ln w="12700">
            <a:solidFill>
              <a:srgbClr val="44576C"/>
            </a:solidFill>
            <a:prstDash val="solid"/>
          </a:ln>
          <a:effectLst>
            <a:outerShdw sx="100000" sy="100000" kx="0" ky="0" algn="bl" rotWithShape="0" blurRad="38100" dist="254" dir="5400000">
              <a:srgbClr val="000000">
                <a:alpha val="3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92240" y="2075688"/>
            <a:ext cx="420624" cy="420624"/>
          </a:xfrm>
          <a:prstGeom prst="ellipse">
            <a:avLst/>
          </a:prstGeom>
          <a:solidFill>
            <a:srgbClr val="F6BD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92240" y="2130552"/>
            <a:ext cx="420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31F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7086600" y="205740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Um assunto por slide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7086600" y="2404872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5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 precisa de duas réguas douradas, são dois slides. Contexto → dado → insight.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40080" y="3520440"/>
            <a:ext cx="5303520" cy="1463040"/>
          </a:xfrm>
          <a:prstGeom prst="roundRect">
            <a:avLst>
              <a:gd name="adj" fmla="val 3750"/>
            </a:avLst>
          </a:prstGeom>
          <a:solidFill>
            <a:srgbClr val="2C3E52"/>
          </a:solidFill>
          <a:ln w="12700">
            <a:solidFill>
              <a:srgbClr val="44576C"/>
            </a:solidFill>
            <a:prstDash val="solid"/>
          </a:ln>
          <a:effectLst>
            <a:outerShdw sx="100000" sy="100000" kx="0" ky="0" algn="bl" rotWithShape="0" blurRad="38100" dist="254" dir="5400000">
              <a:srgbClr val="000000">
                <a:alpha val="3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914400" y="3813048"/>
            <a:ext cx="420624" cy="420624"/>
          </a:xfrm>
          <a:prstGeom prst="ellipse">
            <a:avLst/>
          </a:prstGeom>
          <a:solidFill>
            <a:srgbClr val="F6BD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14400" y="3867912"/>
            <a:ext cx="420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31F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1508760" y="379476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 tem significado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1508760" y="4142232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5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Verde só positivo, vermelho só negativo, âmbar atenção. Dourado é marca, nunca KPI.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217920" y="3520440"/>
            <a:ext cx="5303520" cy="1463040"/>
          </a:xfrm>
          <a:prstGeom prst="roundRect">
            <a:avLst>
              <a:gd name="adj" fmla="val 3750"/>
            </a:avLst>
          </a:prstGeom>
          <a:solidFill>
            <a:srgbClr val="2C3E52"/>
          </a:solidFill>
          <a:ln w="12700">
            <a:solidFill>
              <a:srgbClr val="44576C"/>
            </a:solidFill>
            <a:prstDash val="solid"/>
          </a:ln>
          <a:effectLst>
            <a:outerShdw sx="100000" sy="100000" kx="0" ky="0" algn="bl" rotWithShape="0" blurRad="38100" dist="254" dir="5400000">
              <a:srgbClr val="000000">
                <a:alpha val="3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492240" y="3813048"/>
            <a:ext cx="420624" cy="420624"/>
          </a:xfrm>
          <a:prstGeom prst="ellipse">
            <a:avLst/>
          </a:prstGeom>
          <a:solidFill>
            <a:srgbClr val="F6BD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492240" y="3867912"/>
            <a:ext cx="420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31F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7086600" y="379476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Apague a referência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7086600" y="4142232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5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slide 7 é consulta interna. Remova-o antes de apresentar.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640080" y="59436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6BD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 completo: PADRAO-VULCABRAS.md — nos repositórios report-ecommerce, report-DISTR e Inventario---Dashboard.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Vulcabras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Institucional Vulcabras</dc:title>
  <dc:subject>PptxGenJS Presentation</dc:subject>
  <dc:creator>Vulcabras — Dados &amp; Processos</dc:creator>
  <cp:lastModifiedBy>Vulcabras — Dados &amp; Processos</cp:lastModifiedBy>
  <cp:revision>1</cp:revision>
  <dcterms:created xsi:type="dcterms:W3CDTF">2026-09-16T20:23:40Z</dcterms:created>
  <dcterms:modified xsi:type="dcterms:W3CDTF">2026-09-16T20:23:40Z</dcterms:modified>
</cp:coreProperties>
</file>